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Relationship Type="http://schemas.openxmlformats.org/officeDocument/2006/relationships/slide" Target="/ppt/slides/slide16.xml" Id="rId21" /><Relationship Type="http://schemas.openxmlformats.org/officeDocument/2006/relationships/slide" Target="/ppt/slides/slide17.xml" Id="rId22" /><Relationship Type="http://schemas.openxmlformats.org/officeDocument/2006/relationships/slide" Target="/ppt/slides/slide18.xml" Id="rId23" /><Relationship Type="http://schemas.openxmlformats.org/officeDocument/2006/relationships/slide" Target="/ppt/slides/slide19.xml" Id="rId24" /><Relationship Type="http://schemas.openxmlformats.org/officeDocument/2006/relationships/slide" Target="/ppt/slides/slide20.xml" Id="rId25" /><Relationship Type="http://schemas.openxmlformats.org/officeDocument/2006/relationships/slide" Target="/ppt/slides/slide21.xml" Id="rId26" /><Relationship Type="http://schemas.openxmlformats.org/officeDocument/2006/relationships/slide" Target="/ppt/slides/slide22.xml" Id="rId27" /><Relationship Type="http://schemas.openxmlformats.org/officeDocument/2006/relationships/slide" Target="/ppt/slides/slide23.xml" Id="rId2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3B73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524000"/>
            <a:ext cx="11176000" cy="635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I mille modi di creare</a:t>
            </a:r>
            <a:endParaRPr lang="en-US"/>
          </a:p>
          <a:p>
            <a:pPr algn="ctr"/>
            <a:r>
              <a:rPr lang="en-US" sz="3600" b="1" dirty="0">
                <a:solidFill>
                  <a:srgbClr val="FFFFFF"/>
                </a:solidFill>
              </a:rPr>
              <a:t>una applicazione reattiva su Azure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302000"/>
            <a:ext cx="11176000" cy="381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dirty="0">
                <a:solidFill>
                  <a:srgbClr val="00B294"/>
                </a:solidFill>
              </a:rPr>
              <a:t>.NET 10  •  Aspire  •  Service Bus  •  SignalR  •  Blazor  •  CQRS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318000"/>
            <a:ext cx="11176000" cy="381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5207000"/>
            <a:ext cx="11176000" cy="381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0" dirty="0">
                <a:solidFill>
                  <a:srgbClr val="AAAAAA"/>
                </a:solidFill>
              </a:rPr>
              <a:t>Un'app reattiva non e' solo "real-time UI": e' un sistema che reagisce a eventi,</a:t>
            </a:r>
            <a:endParaRPr lang="en-US"/>
          </a:p>
          <a:p>
            <a:pPr algn="ctr"/>
            <a:r>
              <a:rPr lang="en-US" sz="1100" b="0" dirty="0">
                <a:solidFill>
                  <a:srgbClr val="AAAAAA"/>
                </a:solidFill>
              </a:rPr>
              <a:t>scala sotto carico e resta osservabile.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Agenda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11176000" cy="508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1A1A1A"/>
                </a:solidFill>
              </a:rPr>
              <a:t>1.  Cos'e' un'app reattiva?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1A1A1A"/>
                </a:solidFill>
              </a:rPr>
              <a:t>2.  Il nostro stack: .NET 10, Aspire, Servizi Azure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1A1A1A"/>
                </a:solidFill>
              </a:rPr>
              <a:t>3.  I servizi Azure che utilizziamo</a:t>
            </a:r>
            <a:endParaRPr lang="en-US"/>
          </a:p>
          <a:p>
            <a:pPr algn="ctr"/>
            <a:r>
              <a:rPr lang="en-US" sz="1300" b="0" dirty="0">
                <a:solidFill>
                  <a:srgbClr val="4A4A4A"/>
                </a:solidFill>
              </a:rPr>
              <a:t>     Azure SignalR  •  Azure Service Bus  •  App Service  •  Load Testing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4.  Demo 1 — ReactiveBoard (semplice)</a:t>
            </a:r>
            <a:endParaRPr lang="en-US"/>
          </a:p>
          <a:p>
            <a:pPr algn="ctr"/>
            <a:r>
              <a:rPr lang="en-US" sz="1300" b="0" dirty="0">
                <a:solidFill>
                  <a:srgbClr val="4A4A4A"/>
                </a:solidFill>
              </a:rPr>
              <a:t>     Push diretto con SignalR + Background Service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5.  Demo 2 — ReactiveOrders (avanzata)</a:t>
            </a:r>
            <a:endParaRPr lang="en-US"/>
          </a:p>
          <a:p>
            <a:pPr algn="ctr"/>
            <a:r>
              <a:rPr lang="en-US" sz="1300" b="0" dirty="0">
                <a:solidFill>
                  <a:srgbClr val="4A4A4A"/>
                </a:solidFill>
              </a:rPr>
              <a:t>     CQRS + Service Bus + Read Model + Wolverine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FF8C00"/>
                </a:solidFill>
              </a:rPr>
              <a:t>6.  Bonus — Load Testing + App Service Autoscale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1A1A1A"/>
                </a:solidFill>
              </a:rPr>
              <a:t>7.  Recap &amp; Q/A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3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Cos'e' un'app reattiva?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952500"/>
            <a:ext cx="11176000" cy="3175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rgbClr val="4A4A4A"/>
                </a:solidFill>
              </a:rPr>
              <a:t>Non e' solo "real-time UI" — e' molto di piu'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460500"/>
            <a:ext cx="2540000" cy="1778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Responsive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Risponde rapidamente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agli utenti con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feedback immediato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302000" y="1460500"/>
            <a:ext cx="2540000" cy="1778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Message-Driven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Comunicazione asincrona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tramite messaggi ed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eventi disaccoppiati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096000" y="1460500"/>
            <a:ext cx="2540000" cy="1778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Elastic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Scala sotto carico,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autoscale automatico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delle risorse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890000" y="1460500"/>
            <a:ext cx="2540000" cy="1778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Observable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Traces, metriche, log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distribuiti per capire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cosa succede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556000"/>
            <a:ext cx="11176000" cy="254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A1A1A"/>
                </a:solidFill>
              </a:rPr>
              <a:t>Oggi vedremo come combinare: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SignalR -&gt; aggiornamenti live verso web/mobile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Service Bus -&gt; comandi/eventi asincroni affidabili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CQRS + Read Models -&gt; dati ottimizzati per la lettura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Load Testing + Autoscale -&gt; verificare e scalare sotto carico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4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Il nostro stack tecnologico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3429000" cy="2794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Runtime &amp; Framework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.NET 10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Blazor (Server + Interactive)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EF Core 10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Wolverine 3.x (CQRS)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318000" y="1143000"/>
            <a:ext cx="3429000" cy="2794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Orchestrazione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.NET Aspire 9.x+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Service Discovery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OpenTelemetry integrata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Emulatori Azure locali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128000" y="1143000"/>
            <a:ext cx="3429000" cy="2794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Servizi Azure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SignalR Service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Service Bus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App Service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Load Testing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318000"/>
            <a:ext cx="11176000" cy="635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B294"/>
                </a:solidFill>
              </a:rPr>
              <a:t>Tutto gira in locale con emulatori Aspire — zero costi, zero subscription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(tranne la parte di Load Testing + Autoscale, che richiede Azure)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5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.NET Aspire — L'orchestratore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5461000" cy="508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Cos'e' .NET Aspire?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Un framework per costruire app cloud-native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distribuite, osservabili e pronte per la produzione.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Perche' lo usiamo?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AppHost orchestra tutti i servizi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ServiceDefaults: health, logging, tracing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Service Discovery automatico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Emulatori Azure integrati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Dashboard con traces e metriche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143000"/>
            <a:ext cx="5334000" cy="3556000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0" dirty="0">
                <a:solidFill>
                  <a:srgbClr val="6A9955"/>
                </a:solidFill>
              </a:rPr>
              <a:t>// AppHost — Program.cs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9CDCFE"/>
                </a:solidFill>
              </a:rPr>
              <a:t>var signalr = builder</a:t>
            </a:r>
            <a:endParaRPr lang="en-US"/>
          </a:p>
          <a:p>
            <a:pPr algn="ctr"/>
            <a:r>
              <a:rPr lang="en-US" sz="1100" b="0" dirty="0">
                <a:solidFill>
                  <a:srgbClr val="CE9178"/>
                </a:solidFill>
              </a:rPr>
              <a:t>    .AddAzureSignalR("signalr")</a:t>
            </a:r>
            <a:endParaRPr lang="en-US"/>
          </a:p>
          <a:p>
            <a:pPr algn="ctr"/>
            <a:r>
              <a:rPr lang="en-US" sz="1100" b="0" dirty="0">
                <a:solidFill>
                  <a:srgbClr val="CE9178"/>
                </a:solidFill>
              </a:rPr>
              <a:t>    .RunAsEmulator();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9CDCFE"/>
                </a:solidFill>
              </a:rPr>
              <a:t>var bus = builder</a:t>
            </a:r>
            <a:endParaRPr lang="en-US"/>
          </a:p>
          <a:p>
            <a:pPr algn="ctr"/>
            <a:r>
              <a:rPr lang="en-US" sz="1100" b="0" dirty="0">
                <a:solidFill>
                  <a:srgbClr val="CE9178"/>
                </a:solidFill>
              </a:rPr>
              <a:t>    .AddAzureServiceBus("bus")</a:t>
            </a:r>
            <a:endParaRPr lang="en-US"/>
          </a:p>
          <a:p>
            <a:pPr algn="ctr"/>
            <a:r>
              <a:rPr lang="en-US" sz="1100" b="0" dirty="0">
                <a:solidFill>
                  <a:srgbClr val="CE9178"/>
                </a:solidFill>
              </a:rPr>
              <a:t>    .RunAsEmulator();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9CDCFE"/>
                </a:solidFill>
              </a:rPr>
              <a:t>builder.AddProject&lt;Web&gt;("web")</a:t>
            </a:r>
            <a:endParaRPr lang="en-US"/>
          </a:p>
          <a:p>
            <a:pPr algn="ctr"/>
            <a:r>
              <a:rPr lang="en-US" sz="1100" b="0" dirty="0">
                <a:solidFill>
                  <a:srgbClr val="CE9178"/>
                </a:solidFill>
              </a:rPr>
              <a:t>    .WithReference(signalr);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6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Azure SignalR Service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914400"/>
            <a:ext cx="11176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rgbClr val="4A4A4A"/>
                </a:solidFill>
              </a:rPr>
              <a:t>Real-time push senza gestire infrastruttura WebSocket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333500"/>
            <a:ext cx="5461000" cy="4826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Cos'e'?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Servizio gestito che scala connessioni WebSocket,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Server-Sent Events e Long Polling per applicazioni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real-time. Basato sul protocollo SignalR di ASP.NET.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Punti di forza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Scala fino a milioni di connessioni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Zero infrastruttura da gestire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Supporta Hub/Group/User targeting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Latenza sub-secondo per gli update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Modalita' Serverless o Default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333500"/>
            <a:ext cx="5334000" cy="3175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3B73"/>
                </a:solidFill>
              </a:rPr>
              <a:t>Come lo usiamo noi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Demo 1: il BackgroundService invia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eventi tramite Hub -&gt; Blazor li mostra.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Demo 2: l'EventProcessor aggiorna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i read model e notifica i client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Blazor connessi via SignalR.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1" dirty="0">
                <a:solidFill>
                  <a:srgbClr val="00B294"/>
                </a:solidFill>
              </a:rPr>
              <a:t>Emulatore locale via Aspire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7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Azure Service Bus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914400"/>
            <a:ext cx="11176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rgbClr val="4A4A4A"/>
                </a:solidFill>
              </a:rPr>
              <a:t>Messaging enterprise affidabile con code, topic e subscription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333500"/>
            <a:ext cx="5461000" cy="508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Cos'e'?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Message broker enterprise completamente gestito.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Supporta code (1:1) e topic/subscription (1:N).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Garantisce consegna, ordine, deduplicazione.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Punti di forza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Garanzia FIFO e at-least-once delivery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Topic/Sub per pub-sub scalabile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Dead-letter queue per errori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Sessions per message grouping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Scheduled messages e TTL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Competing consumers per scaling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333500"/>
            <a:ext cx="5334000" cy="3556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3B73"/>
                </a:solidFill>
              </a:rPr>
              <a:t>Come lo usiamo noi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Queue: comandi PlaceOrder inviati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dall'API al command handler.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Topic "order-events": eventi pubblicati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dal command side, consumati da N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subscription (read model diversi).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Wolverine usa il trasporto Service Bus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con outbox pattern integrato.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1" dirty="0">
                <a:solidFill>
                  <a:srgbClr val="00B294"/>
                </a:solidFill>
              </a:rPr>
              <a:t>Emulatore locale via Aspire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8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Azure App Service + Autoscale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914400"/>
            <a:ext cx="11176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rgbClr val="4A4A4A"/>
                </a:solidFill>
              </a:rPr>
              <a:t>PaaS con scaling automatico basato su metriche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333500"/>
            <a:ext cx="5461000" cy="508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Azure App Service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PaaS per web app, API, worker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Deploy continuo (GitHub, Azure DevOps)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Slot di staging per zero-downtime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Custom domains, TLS automatico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Autoscale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Scale-out su CPU, memoria, HTTP queue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Regole personalizzabili con soglie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Scale-in automatico quando il carico cala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Richiede piano Standard (S1) o superiore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333500"/>
            <a:ext cx="5334000" cy="3175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3B73"/>
                </a:solidFill>
              </a:rPr>
              <a:t>Config Autoscale per la demo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FF8C00"/>
                </a:solidFill>
              </a:rPr>
              <a:t>Scale-out: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CPU &gt; 70% per 5 min -&gt; +1 istanza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Max 5 istanze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00B294"/>
                </a:solidFill>
              </a:rPr>
              <a:t>Scale-in: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CPU &lt; 30% per 10 min -&gt; -1 istanza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Min 1 istanza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Service Bus funge da buffer durante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lo scaling: nessun messaggio perso!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9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Azure Load Testing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914400"/>
            <a:ext cx="11176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rgbClr val="4A4A4A"/>
                </a:solidFill>
              </a:rPr>
              <a:t>Test di carico gestito, basato su Apache JMeter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333500"/>
            <a:ext cx="5461000" cy="4826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Cos'e'?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Servizio completamente gestito per eseguire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test di carico su larga scala. Usa script JMeter.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Punti di forza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Nessuna infrastruttura da gestire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Scala a migliaia di utenti virtuali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Dashboard real-time con metriche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Criteri di successo/fallimento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Integrazione CI/CD (GitHub Actions)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Confronto tra test run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333500"/>
            <a:ext cx="5334000" cy="3556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3B73"/>
                </a:solidFill>
              </a:rPr>
              <a:t>Il nostro test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FF8C00"/>
                </a:solidFill>
              </a:rPr>
              <a:t>Script JMeter: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POST /api/orders con payload random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FF8C00"/>
                </a:solidFill>
              </a:rPr>
              <a:t>Ramp-up: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10 -&gt; 500 utenti virtuali in 5 min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FF8C00"/>
                </a:solidFill>
              </a:rPr>
              <a:t>Criteri di successo: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p95 latency &lt; 2s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error rate &lt; 1%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1" dirty="0">
                <a:solidFill>
                  <a:srgbClr val="00B294"/>
                </a:solidFill>
              </a:rPr>
              <a:t>Costi: pochi centesimi per un run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0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508000"/>
            <a:ext cx="3810000" cy="3175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B294"/>
                </a:solidFill>
              </a:rPr>
              <a:t>DEMO 1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016000"/>
            <a:ext cx="11176000" cy="6350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b="1" dirty="0">
                <a:solidFill>
                  <a:srgbClr val="FFFFFF"/>
                </a:solidFill>
              </a:rPr>
              <a:t>ReactiveBoard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968500"/>
            <a:ext cx="11176000" cy="3810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solidFill>
                  <a:srgbClr val="B4D6F5"/>
                </a:solidFill>
              </a:rPr>
              <a:t>Il modo piu' semplice: push diretto con SignalR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2794000"/>
            <a:ext cx="11176000" cy="35560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Scenario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Dashboard real-time della conferenza: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•  Numero partecipanti in sala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•  Talk in corso e prossimi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•  Voti live del pubblico</a:t>
            </a:r>
            <a:endParaRPr lang="en-US"/>
          </a:p>
          <a:p>
            <a:pPr algn="ctr"/>
            <a:r>
              <a:rPr lang="en-US" sz="10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0" dirty="0">
                <a:solidFill>
                  <a:srgbClr val="B4D6F5"/>
                </a:solidFill>
              </a:rPr>
              <a:t>Un BackgroundService simula gli eventi.</a:t>
            </a:r>
            <a:endParaRPr lang="en-US"/>
          </a:p>
          <a:p>
            <a:pPr algn="ctr"/>
            <a:r>
              <a:rPr lang="en-US" sz="1400" b="0" dirty="0">
                <a:solidFill>
                  <a:srgbClr val="B4D6F5"/>
                </a:solidFill>
              </a:rPr>
              <a:t>La UI Blazor si aggiorna in tempo reale.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003B73"/>
                </a:solidFill>
              </a:rPr>
              <a:t>Demo 1 — ReactiveBoard — Architettura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397000"/>
            <a:ext cx="2794000" cy="1143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Simulator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BackgroundService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Genera eventi ogni 2-3s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683000" y="1651000"/>
            <a:ext cx="2032000" cy="381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0078D4"/>
                </a:solidFill>
              </a:rPr>
              <a:t>---- SignalR Hub ----&gt;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969000" y="1397000"/>
            <a:ext cx="2794000" cy="1143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8D4"/>
                </a:solidFill>
              </a:rPr>
              <a:t>Blazor Server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Dashboard UI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Grafici real-time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2921000"/>
            <a:ext cx="3302000" cy="6985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Azure SignalR Service</a:t>
            </a:r>
            <a:endParaRPr lang="en-US"/>
          </a:p>
          <a:p>
            <a:pPr algn="ctr"/>
            <a:r>
              <a:rPr lang="en-US" sz="1100" b="0" dirty="0">
                <a:solidFill>
                  <a:srgbClr val="B4D6F5"/>
                </a:solidFill>
              </a:rPr>
              <a:t>(emulatore locale via Aspire)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064000"/>
            <a:ext cx="11176000" cy="2159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3B73"/>
                </a:solidFill>
              </a:rPr>
              <a:t>4 Progetti: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ReactiveBoard.AppHost            -&gt; Aspire Host (orchestrazione)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ReactiveBoard.ServiceDefaults     -&gt; Defaults (health, tracing)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ReactiveBoard.Web                 -&gt; Blazor Server (dashboard)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ReactiveBoard.Simulator           -&gt; Worker Service (simulatore)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2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Demo 1 — Cosa impariamo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206500"/>
            <a:ext cx="11176000" cy="4826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Azure SignalR Service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   Emulatore locale, zero costi, push sub-secondo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Blazor Server + Streaming Rendering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   Componenti reattivi con HubConnection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BackgroundService come simulatore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   IHostedService che genera eventi a cadenza regolare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.NET Aspire come orchestratore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   Service discovery, health checks, dashboard telemetria</a:t>
            </a:r>
            <a:endParaRPr lang="en-US"/>
          </a:p>
          <a:p>
            <a:pPr algn="ctr"/>
            <a:r>
              <a:rPr lang="en-US" sz="1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600" b="1" dirty="0">
                <a:solidFill>
                  <a:srgbClr val="00B294"/>
                </a:solidFill>
              </a:rPr>
              <a:t>Semplicita': ~4 progetti, nessun message broker</a:t>
            </a:r>
            <a:endParaRPr lang="en-US"/>
          </a:p>
          <a:p>
            <a:pPr algn="ctr"/>
            <a:r>
              <a:rPr lang="en-US" sz="1600" b="1" dirty="0">
                <a:solidFill>
                  <a:srgbClr val="FF8C00"/>
                </a:solidFill>
              </a:rPr>
              <a:t>Limite: accoppiamento diretto Simulator &lt;-&gt; Hub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3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3B73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508000"/>
            <a:ext cx="3810000" cy="3175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8C00"/>
                </a:solidFill>
              </a:rPr>
              <a:t>DEMO 2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016000"/>
            <a:ext cx="11176000" cy="635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b="1" dirty="0">
                <a:solidFill>
                  <a:srgbClr val="FFFFFF"/>
                </a:solidFill>
              </a:rPr>
              <a:t>ReactiveOrders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968500"/>
            <a:ext cx="11176000" cy="381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solidFill>
                  <a:srgbClr val="00B294"/>
                </a:solidFill>
              </a:rPr>
              <a:t>CQRS + Service Bus + Read Model + SignalR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2794000"/>
            <a:ext cx="11176000" cy="3556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Scenario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Sistema ordini catering della conferenza: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•  I partecipanti ordinano da Blazor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•  Comandi gestiti da Wolverine via Service Bus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•  Eventi aggiornano read model ottimizzati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•  UI riceve push via SignalR</a:t>
            </a:r>
            <a:endParaRPr lang="en-US"/>
          </a:p>
          <a:p>
            <a:pPr algn="ctr"/>
            <a:r>
              <a:rPr lang="en-US" sz="10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1" dirty="0">
                <a:solidFill>
                  <a:srgbClr val="00B294"/>
                </a:solidFill>
              </a:rPr>
              <a:t>Separazione completa: Command Side / Read Side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4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Pattern CQRS con Wolverine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5461000" cy="508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Cos'e' CQRS?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Command Query Responsibility Segregation: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il modello di scrittura e' separato dal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modello di lettura.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Perche' Wolverine?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Command/Event handling nativo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Integrazione Azure Service Bus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Outbox pattern built-in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Saga/workflow per processi multi-step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Si integra con Aspire</a:t>
            </a:r>
            <a:endParaRPr lang="en-US"/>
          </a:p>
          <a:p>
            <a:pPr algn="ctr"/>
            <a:r>
              <a:rPr lang="en-US" sz="1200" b="0" dirty="0">
                <a:solidFill>
                  <a:srgbClr val="4A4A4A"/>
                </a:solidFill>
              </a:rPr>
              <a:t>  •  NuGet: WolverineFx.AzureServiceBus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143000"/>
            <a:ext cx="5334000" cy="4826000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0" dirty="0">
                <a:solidFill>
                  <a:srgbClr val="6A9955"/>
                </a:solidFill>
              </a:rPr>
              <a:t>// Command Handler</a:t>
            </a:r>
            <a:endParaRPr lang="en-US"/>
          </a:p>
          <a:p>
            <a:pPr algn="ctr"/>
            <a:r>
              <a:rPr lang="en-US" sz="4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000" b="0" dirty="0">
                <a:solidFill>
                  <a:srgbClr val="9CDCFE"/>
                </a:solidFill>
              </a:rPr>
              <a:t>public static OrderPlaced Handle(</a:t>
            </a:r>
            <a:endParaRPr lang="en-US"/>
          </a:p>
          <a:p>
            <a:pPr algn="ctr"/>
            <a:r>
              <a:rPr lang="en-US" sz="1000" b="0" dirty="0">
                <a:solidFill>
                  <a:srgbClr val="9CDCFE"/>
                </a:solidFill>
              </a:rPr>
              <a:t>    PlaceOrder command,</a:t>
            </a:r>
            <a:endParaRPr lang="en-US"/>
          </a:p>
          <a:p>
            <a:pPr algn="ctr"/>
            <a:r>
              <a:rPr lang="en-US" sz="1000" b="0" dirty="0">
                <a:solidFill>
                  <a:srgbClr val="9CDCFE"/>
                </a:solidFill>
              </a:rPr>
              <a:t>    OrderDbContext db)</a:t>
            </a:r>
            <a:endParaRPr lang="en-US"/>
          </a:p>
          <a:p>
            <a:pPr algn="ctr"/>
            <a:r>
              <a:rPr lang="en-US" sz="1000" b="0" dirty="0">
                <a:solidFill>
                  <a:srgbClr val="FFFFFF"/>
                </a:solidFill>
              </a:rPr>
              <a:t>{</a:t>
            </a:r>
            <a:endParaRPr lang="en-US"/>
          </a:p>
          <a:p>
            <a:pPr algn="ctr"/>
            <a:r>
              <a:rPr lang="en-US" sz="1000" b="0" dirty="0">
                <a:solidFill>
                  <a:srgbClr val="CE9178"/>
                </a:solidFill>
              </a:rPr>
              <a:t>    var order = new Order(command);</a:t>
            </a:r>
            <a:endParaRPr lang="en-US"/>
          </a:p>
          <a:p>
            <a:pPr algn="ctr"/>
            <a:r>
              <a:rPr lang="en-US" sz="1000" b="0" dirty="0">
                <a:solidFill>
                  <a:srgbClr val="CE9178"/>
                </a:solidFill>
              </a:rPr>
              <a:t>    db.Orders.Add(order);</a:t>
            </a:r>
            <a:endParaRPr lang="en-US"/>
          </a:p>
          <a:p>
            <a:pPr algn="ctr"/>
            <a:r>
              <a:rPr lang="en-US" sz="1000" b="0" dirty="0">
                <a:solidFill>
                  <a:srgbClr val="6A9955"/>
                </a:solidFill>
              </a:rPr>
              <a:t>    // Wolverine pubblica l'evento</a:t>
            </a:r>
            <a:endParaRPr lang="en-US"/>
          </a:p>
          <a:p>
            <a:pPr algn="ctr"/>
            <a:r>
              <a:rPr lang="en-US" sz="1000" b="0" dirty="0">
                <a:solidFill>
                  <a:srgbClr val="CE9178"/>
                </a:solidFill>
              </a:rPr>
              <a:t>    return new OrderPlaced(order.Id);</a:t>
            </a:r>
            <a:endParaRPr lang="en-US"/>
          </a:p>
          <a:p>
            <a:pPr algn="ctr"/>
            <a:r>
              <a:rPr lang="en-US" sz="1000" b="0" dirty="0">
                <a:solidFill>
                  <a:srgbClr val="FFFFFF"/>
                </a:solidFill>
              </a:rPr>
              <a:t>}</a:t>
            </a:r>
            <a:endParaRPr lang="en-US"/>
          </a:p>
          <a:p>
            <a:pPr algn="ctr"/>
            <a:r>
              <a:rPr lang="en-US" sz="8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6A9955"/>
                </a:solidFill>
              </a:rPr>
              <a:t>// Event Handler (Read Side)</a:t>
            </a:r>
            <a:endParaRPr lang="en-US"/>
          </a:p>
          <a:p>
            <a:pPr algn="ctr"/>
            <a:r>
              <a:rPr lang="en-US" sz="1000" b="0" dirty="0">
                <a:solidFill>
                  <a:srgbClr val="9CDCFE"/>
                </a:solidFill>
              </a:rPr>
              <a:t>public static async Task Handle(</a:t>
            </a:r>
            <a:endParaRPr lang="en-US"/>
          </a:p>
          <a:p>
            <a:pPr algn="ctr"/>
            <a:r>
              <a:rPr lang="en-US" sz="1000" b="0" dirty="0">
                <a:solidFill>
                  <a:srgbClr val="9CDCFE"/>
                </a:solidFill>
              </a:rPr>
              <a:t>    OrderPlaced @event,</a:t>
            </a:r>
            <a:endParaRPr lang="en-US"/>
          </a:p>
          <a:p>
            <a:pPr algn="ctr"/>
            <a:r>
              <a:rPr lang="en-US" sz="1000" b="0" dirty="0">
                <a:solidFill>
                  <a:srgbClr val="9CDCFE"/>
                </a:solidFill>
              </a:rPr>
              <a:t>    IHubContext&lt;OrderHub&gt; hub)</a:t>
            </a:r>
            <a:endParaRPr lang="en-US"/>
          </a:p>
          <a:p>
            <a:pPr algn="ctr"/>
            <a:r>
              <a:rPr lang="en-US" sz="1000" b="0" dirty="0">
                <a:solidFill>
                  <a:srgbClr val="FFFFFF"/>
                </a:solidFill>
              </a:rPr>
              <a:t>{</a:t>
            </a:r>
            <a:endParaRPr lang="en-US"/>
          </a:p>
          <a:p>
            <a:pPr algn="ctr"/>
            <a:r>
              <a:rPr lang="en-US" sz="1000" b="0" dirty="0">
                <a:solidFill>
                  <a:srgbClr val="6A9955"/>
                </a:solidFill>
              </a:rPr>
              <a:t>    // Aggiorna read model + push</a:t>
            </a:r>
            <a:endParaRPr lang="en-US"/>
          </a:p>
          <a:p>
            <a:pPr algn="ctr"/>
            <a:r>
              <a:rPr lang="en-US" sz="1000" b="0" dirty="0">
                <a:solidFill>
                  <a:srgbClr val="CE9178"/>
                </a:solidFill>
              </a:rPr>
              <a:t>    await hub.Clients.All</a:t>
            </a:r>
            <a:endParaRPr lang="en-US"/>
          </a:p>
          <a:p>
            <a:pPr algn="ctr"/>
            <a:r>
              <a:rPr lang="en-US" sz="1000" b="0" dirty="0">
                <a:solidFill>
                  <a:srgbClr val="CE9178"/>
                </a:solidFill>
              </a:rPr>
              <a:t>        .SendAsync("OrderUpdate");</a:t>
            </a:r>
            <a:endParaRPr lang="en-US"/>
          </a:p>
          <a:p>
            <a:pPr algn="ctr"/>
            <a:r>
              <a:rPr lang="en-US" sz="1000" b="0" dirty="0">
                <a:solidFill>
                  <a:srgbClr val="FFFFFF"/>
                </a:solidFill>
              </a:rPr>
              <a:t>}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5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003B73"/>
                </a:solidFill>
              </a:rPr>
              <a:t>Demo 2 — Architettura CQRS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079500"/>
            <a:ext cx="2032000" cy="3175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 COMMAND SIDE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524000"/>
            <a:ext cx="2159000" cy="8255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78D4"/>
                </a:solidFill>
              </a:rPr>
              <a:t>Blazor SSR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UI Ordini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730500" y="1651000"/>
            <a:ext cx="381000" cy="3175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78D4"/>
                </a:solidFill>
              </a:rPr>
              <a:t>-&gt;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238500" y="1524000"/>
            <a:ext cx="2286000" cy="8255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78D4"/>
                </a:solidFill>
              </a:rPr>
              <a:t>Command API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Wolverine handlers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413000" y="2667000"/>
            <a:ext cx="3683000" cy="4445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Service Bus — Topic: order-events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731000" y="1079500"/>
            <a:ext cx="1778000" cy="317500"/>
          </a:xfrm>
          <a:prstGeom prst="rect">
            <a:avLst/>
          </a:prstGeom>
          <a:solidFill>
            <a:srgbClr val="00B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 READ SIDE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731000" y="1524000"/>
            <a:ext cx="2286000" cy="8255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B294"/>
                </a:solidFill>
              </a:rPr>
              <a:t>Event Processor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Wolverine handlers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9080500" y="1651000"/>
            <a:ext cx="381000" cy="3175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B294"/>
                </a:solidFill>
              </a:rPr>
              <a:t>-&gt;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9588500" y="1524000"/>
            <a:ext cx="2159000" cy="8255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B294"/>
                </a:solidFill>
              </a:rPr>
              <a:t>Read Models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EF Core + SQL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159500" y="2730500"/>
            <a:ext cx="635000" cy="3175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78D4"/>
                </a:solidFill>
              </a:rPr>
              <a:t>----&gt;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731000" y="2667000"/>
            <a:ext cx="2286000" cy="4445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SignalR -&gt; Blazor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556000"/>
            <a:ext cx="11176000" cy="254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3B73"/>
                </a:solidFill>
              </a:rPr>
              <a:t>10 Progetti nella solution: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AppHost  •  ServiceDefaults  •  Web (Blazor)  •  CommandApi (Wolverine)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ReadApi  •  EventProcessor (Wolverine)  •  Domain  •  ReadModel  •  Contracts  •  Simulator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6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Demo 2 — Comandi ed Eventi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5334000" cy="292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Commands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PlaceOrder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Items[], AttendeeId, Notes }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ConfirmOrder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OrderId }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RejectOrder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OrderId, Reason }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CancelOrder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OrderId }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143000"/>
            <a:ext cx="5334000" cy="292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B294"/>
                </a:solidFill>
              </a:rPr>
              <a:t>Events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OrderPlaced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OrderId, Items[], AttendeeId, Timestamp }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OrderConfirmed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OrderId, EstimatedReady, Timestamp }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OrderRejected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OrderId, Reason, Timestamp }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1A1A1A"/>
                </a:solidFill>
              </a:rPr>
              <a:t>  OrderCancelled</a:t>
            </a:r>
            <a:endParaRPr lang="en-US"/>
          </a:p>
          <a:p>
            <a:pPr algn="ctr"/>
            <a:r>
              <a:rPr lang="en-US" sz="1100" b="0" dirty="0">
                <a:solidFill>
                  <a:srgbClr val="4A4A4A"/>
                </a:solidFill>
              </a:rPr>
              <a:t>     { OrderId, Timestamp }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381500"/>
            <a:ext cx="11176000" cy="381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3B73"/>
                </a:solidFill>
              </a:rPr>
              <a:t>Flusso: Blazor -&gt; POST -&gt; CommandApi -&gt; Wolverine -&gt; Service Bus -&gt; EventProcessor -&gt; Read Model -&gt; SignalR -&gt; Blazor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7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Demo 2 — Read Models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914400"/>
            <a:ext cx="11176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rgbClr val="4A4A4A"/>
                </a:solidFill>
              </a:rPr>
              <a:t>Proiezioni ottimizzate per la lettura, costruite dagli eventi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333500"/>
            <a:ext cx="2540000" cy="2159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78D4"/>
                </a:solidFill>
              </a:rPr>
              <a:t>OrderListView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4A4A4A"/>
                </a:solidFill>
              </a:rPr>
              <a:t>Fonte: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OrderPlaced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OrderConfirmed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OrderRejected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OrderCancelled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00B294"/>
                </a:solidFill>
              </a:rPr>
              <a:t>Lista ordini con stato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365500" y="1333500"/>
            <a:ext cx="2540000" cy="2159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78D4"/>
                </a:solidFill>
              </a:rPr>
              <a:t>KitchenDashboard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4A4A4A"/>
                </a:solidFill>
              </a:rPr>
              <a:t>Fonte: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OrderPlaced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OrderConfirmed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00B294"/>
                </a:solidFill>
              </a:rPr>
              <a:t>Coda ordini cucina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223000" y="1333500"/>
            <a:ext cx="2540000" cy="2159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78D4"/>
                </a:solidFill>
              </a:rPr>
              <a:t>OrderStatsView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4A4A4A"/>
                </a:solidFill>
              </a:rPr>
              <a:t>Fonte: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Tutti gli eventi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00B294"/>
                </a:solidFill>
              </a:rPr>
              <a:t>Totale ordini,</a:t>
            </a:r>
            <a:endParaRPr lang="en-US"/>
          </a:p>
          <a:p>
            <a:pPr algn="ctr"/>
            <a:r>
              <a:rPr lang="en-US" sz="1000" b="1" dirty="0">
                <a:solidFill>
                  <a:srgbClr val="00B294"/>
                </a:solidFill>
              </a:rPr>
              <a:t>tempi medi,</a:t>
            </a:r>
            <a:endParaRPr lang="en-US"/>
          </a:p>
          <a:p>
            <a:pPr algn="ctr"/>
            <a:r>
              <a:rPr lang="en-US" sz="1000" b="1" dirty="0">
                <a:solidFill>
                  <a:srgbClr val="00B294"/>
                </a:solidFill>
              </a:rPr>
              <a:t>tasso conferma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9080500" y="1333500"/>
            <a:ext cx="2540000" cy="2159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078D4"/>
                </a:solidFill>
              </a:rPr>
              <a:t>PopularItems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4A4A4A"/>
                </a:solidFill>
              </a:rPr>
              <a:t>Fonte:</a:t>
            </a:r>
            <a:endParaRPr lang="en-US"/>
          </a:p>
          <a:p>
            <a:pPr algn="ctr"/>
            <a:r>
              <a:rPr lang="en-US" sz="900" b="0" dirty="0">
                <a:solidFill>
                  <a:srgbClr val="1A1A1A"/>
                </a:solidFill>
              </a:rPr>
              <a:t>OrderPlaced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1" dirty="0">
                <a:solidFill>
                  <a:srgbClr val="00B294"/>
                </a:solidFill>
              </a:rPr>
              <a:t>Classifica piatti</a:t>
            </a:r>
            <a:endParaRPr lang="en-US"/>
          </a:p>
          <a:p>
            <a:pPr algn="ctr"/>
            <a:r>
              <a:rPr lang="en-US" sz="1000" b="1" dirty="0">
                <a:solidFill>
                  <a:srgbClr val="00B294"/>
                </a:solidFill>
              </a:rPr>
              <a:t>piu' ordinati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0"/>
            <a:ext cx="11176000" cy="2159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A1A1A"/>
                </a:solidFill>
              </a:rPr>
              <a:t>Ogni read model e' una vista indipendente, aggiornata in modo asincrono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•  Scalano indipendentemente dal write side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•  Si possono ricostruire riprocessando gli eventi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•  Ognuno ha la propria subscription su Service Bus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•  Push automatico via SignalR quando aggiornati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17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8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Demo 2 — Cosa impariamo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5461000" cy="508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Pattern &amp; Architettura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CQRS: separazione command/read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Event-driven projections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Outbox pattern per consistenza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Producer/Consumer + Pub/Sub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Servizi Azure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Service Bus (queue + topic/sub)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SignalR (push read model updates)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Framework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Wolverine come command/event bus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Aspire per orchestrazione complessa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143000"/>
            <a:ext cx="5334000" cy="3683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3B73"/>
                </a:solidFill>
              </a:rPr>
              <a:t>Da Demo 1 a Demo 2: cosa cambia?</a:t>
            </a:r>
            <a:endParaRPr lang="en-US"/>
          </a:p>
          <a:p>
            <a:pPr algn="ctr"/>
            <a:r>
              <a:rPr lang="en-US" sz="6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0078D4"/>
                </a:solidFill>
              </a:rPr>
              <a:t>Demo 1: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Simulator -&gt; Hub -&gt; UI</a:t>
            </a:r>
            <a:endParaRPr lang="en-US"/>
          </a:p>
          <a:p>
            <a:pPr algn="ctr"/>
            <a:r>
              <a:rPr lang="en-US" sz="1100" b="0" dirty="0">
                <a:solidFill>
                  <a:srgbClr val="FF8C00"/>
                </a:solidFill>
              </a:rPr>
              <a:t>  Accoppiamento diretto</a:t>
            </a:r>
            <a:endParaRPr lang="en-US"/>
          </a:p>
          <a:p>
            <a:pPr algn="ctr"/>
            <a:r>
              <a:rPr lang="en-US" sz="8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300" b="1" dirty="0">
                <a:solidFill>
                  <a:srgbClr val="00B294"/>
                </a:solidFill>
              </a:rPr>
              <a:t>Demo 2: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UI -&gt; API -&gt; ServiceBus -&gt; Processor</a:t>
            </a:r>
            <a:endParaRPr lang="en-US"/>
          </a:p>
          <a:p>
            <a:pPr algn="ctr"/>
            <a:r>
              <a:rPr lang="en-US" sz="1100" b="0" dirty="0">
                <a:solidFill>
                  <a:srgbClr val="1A1A1A"/>
                </a:solidFill>
              </a:rPr>
              <a:t>  -&gt; ReadModel -&gt; SignalR -&gt; UI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0" dirty="0">
                <a:solidFill>
                  <a:srgbClr val="00B294"/>
                </a:solidFill>
              </a:rPr>
              <a:t>  Disaccoppiamento totale</a:t>
            </a:r>
            <a:endParaRPr lang="en-US"/>
          </a:p>
          <a:p>
            <a:pPr algn="ctr"/>
            <a:r>
              <a:rPr lang="en-US" sz="1100" b="0" dirty="0">
                <a:solidFill>
                  <a:srgbClr val="00B294"/>
                </a:solidFill>
              </a:rPr>
              <a:t>  Resilienza (Service Bus = buffer)</a:t>
            </a:r>
            <a:endParaRPr lang="en-US"/>
          </a:p>
          <a:p>
            <a:pPr algn="ctr"/>
            <a:r>
              <a:rPr lang="en-US" sz="1100" b="0" dirty="0">
                <a:solidFill>
                  <a:srgbClr val="00B294"/>
                </a:solidFill>
              </a:rPr>
              <a:t>  Read model indipendenti</a:t>
            </a:r>
            <a:endParaRPr lang="en-US"/>
          </a:p>
          <a:p>
            <a:pPr algn="ctr"/>
            <a:r>
              <a:rPr lang="en-US" sz="1100" b="0" dirty="0">
                <a:solidFill>
                  <a:srgbClr val="00B294"/>
                </a:solidFill>
              </a:rPr>
              <a:t>  Scalabilita' per componente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19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FF8C00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508000"/>
            <a:ext cx="3810000" cy="317500"/>
          </a:xfrm>
          <a:prstGeom prst="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BONUS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016000"/>
            <a:ext cx="11176000" cy="635000"/>
          </a:xfrm>
          <a:prstGeom prst="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b="1" dirty="0">
                <a:solidFill>
                  <a:srgbClr val="FFFFFF"/>
                </a:solidFill>
              </a:rPr>
              <a:t>Load Testing + Autoscale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968500"/>
            <a:ext cx="11176000" cy="381000"/>
          </a:xfrm>
          <a:prstGeom prst="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solidFill>
                  <a:srgbClr val="FFF3E0"/>
                </a:solidFill>
              </a:rPr>
              <a:t>Quanto regge? Scaliamo su Azure sotto carico!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2794000"/>
            <a:ext cx="11176000" cy="3556000"/>
          </a:xfrm>
          <a:prstGeom prst="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Il piano:</a:t>
            </a:r>
            <a:endParaRPr lang="en-US"/>
          </a:p>
          <a:p>
            <a:pPr algn="ctr"/>
            <a:r>
              <a:rPr lang="en-US" sz="6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1.  Deploy ReactiveOrders su Azure App Service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2.  Configurare autoscale (CPU &gt; 70% -&gt; +1 istanza)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3.  Lanciare Azure Load Testing (10 -&gt; 500 utenti)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4.  Osservare scale-out live + Service Bus come buffer</a:t>
            </a:r>
            <a:endParaRPr lang="en-US"/>
          </a:p>
          <a:p>
            <a:pPr algn="ctr"/>
            <a:r>
              <a:rPr lang="en-US" sz="1400" b="0" dirty="0">
                <a:solidFill>
                  <a:srgbClr val="FFFFFF"/>
                </a:solidFill>
              </a:rPr>
              <a:t>  5.  Dopo il test: scale-in, zero messaggi persi</a:t>
            </a:r>
            <a:endParaRPr lang="en-US"/>
          </a:p>
          <a:p>
            <a:pPr algn="ctr"/>
            <a:r>
              <a:rPr lang="en-US" sz="1000" b="0" dirty="0">
                <a:solidFill>
                  <a:srgbClr val="FFFFFF"/>
                </a:solidFill>
              </a:rPr>
              <a:t/>
            </a:r>
            <a:endParaRPr lang="en-US"/>
          </a:p>
          <a:p>
            <a:pPr algn="ctr"/>
            <a:r>
              <a:rPr lang="en-US" sz="1400" b="1" dirty="0">
                <a:solidFill>
                  <a:srgbClr val="FFF3E0"/>
                </a:solidFill>
              </a:rPr>
              <a:t>Costi: pochi centesimi per l'intero test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0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003B73"/>
                </a:solidFill>
              </a:rPr>
              <a:t>Bonus — Cosa osservare durante il test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2667000" cy="292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8C00"/>
                </a:solidFill>
              </a:rPr>
              <a:t>Load Testing</a:t>
            </a:r>
            <a:endParaRPr lang="en-US"/>
          </a:p>
          <a:p>
            <a:pPr algn="ctr"/>
            <a:r>
              <a:rPr lang="en-US" sz="1200" b="1" dirty="0">
                <a:solidFill>
                  <a:srgbClr val="0078D4"/>
                </a:solidFill>
              </a:rPr>
              <a:t>Dashboard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Throughput (req/s)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Latency (p50, p95)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Error rate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Utenti virtuali attivi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29000" y="1143000"/>
            <a:ext cx="2667000" cy="292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78D4"/>
                </a:solidFill>
              </a:rPr>
              <a:t>App Service</a:t>
            </a:r>
            <a:endParaRPr lang="en-US"/>
          </a:p>
          <a:p>
            <a:pPr algn="ctr"/>
            <a:r>
              <a:rPr lang="en-US" sz="1200" b="1" dirty="0">
                <a:solidFill>
                  <a:srgbClr val="0078D4"/>
                </a:solidFill>
              </a:rPr>
              <a:t>Metriche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CPU %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Request count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Instance count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HTTP queue length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1" dirty="0">
                <a:solidFill>
                  <a:srgbClr val="00B294"/>
                </a:solidFill>
              </a:rPr>
              <a:t>Scale-out visibile!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0" y="1143000"/>
            <a:ext cx="2667000" cy="292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78D4"/>
                </a:solidFill>
              </a:rPr>
              <a:t>Service Bus</a:t>
            </a:r>
            <a:endParaRPr lang="en-US"/>
          </a:p>
          <a:p>
            <a:pPr algn="ctr"/>
            <a:r>
              <a:rPr lang="en-US" sz="1200" b="1" dirty="0">
                <a:solidFill>
                  <a:srgbClr val="0078D4"/>
                </a:solidFill>
              </a:rPr>
              <a:t>Metriche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Message count (coda)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Active messages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Dead-letter count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100" b="1" dirty="0">
                <a:solidFill>
                  <a:srgbClr val="00B294"/>
                </a:solidFill>
              </a:rPr>
              <a:t>Buffer durante scaling!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9271000" y="1143000"/>
            <a:ext cx="2413000" cy="292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78D4"/>
                </a:solidFill>
              </a:rPr>
              <a:t>Blazor UI</a:t>
            </a:r>
            <a:endParaRPr lang="en-US"/>
          </a:p>
          <a:p>
            <a:pPr algn="ctr"/>
            <a:r>
              <a:rPr lang="en-US" sz="1200" b="1" dirty="0">
                <a:solidFill>
                  <a:srgbClr val="0078D4"/>
                </a:solidFill>
              </a:rPr>
              <a:t>Live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Ordini a raffica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Read model update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>  •  Statistiche live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445000"/>
            <a:ext cx="11176000" cy="152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3B73"/>
                </a:solidFill>
              </a:rPr>
              <a:t>Takeaway: Service Bus disaccoppia API e consumer. Durante lo scaling,</a:t>
            </a:r>
            <a:endParaRPr lang="en-US"/>
          </a:p>
          <a:p>
            <a:pPr algn="ctr"/>
            <a:r>
              <a:rPr lang="en-US" sz="1200" b="0" dirty="0">
                <a:solidFill>
                  <a:srgbClr val="003B73"/>
                </a:solidFill>
              </a:rPr>
              <a:t>i messaggi si accumulano nella coda e vengono processati appena le nuove istanze sono pronte.</a:t>
            </a:r>
            <a:endParaRPr lang="en-US"/>
          </a:p>
          <a:p>
            <a:pPr algn="ctr"/>
            <a:r>
              <a:rPr lang="en-US" sz="1200" b="1" dirty="0">
                <a:solidFill>
                  <a:srgbClr val="00B294"/>
                </a:solidFill>
              </a:rPr>
              <a:t>Nessun messaggio perso, nessun errore utente.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Confronto: quando usare cosa?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11176000" cy="381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                              ReactiveBoard                    ReactiveOrders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524000"/>
            <a:ext cx="11176000" cy="38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Complessità        Semplice                             Avanzata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905000"/>
            <a:ext cx="11176000" cy="381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Progetti           4                                    10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2286000"/>
            <a:ext cx="11176000" cy="38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Messaging          Diretto (Hub)                        Service Bus (queue + topic)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2667000"/>
            <a:ext cx="11176000" cy="381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Pattern            Push diretto                         CQRS + Event-driven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048000"/>
            <a:ext cx="11176000" cy="38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Scalabilità        Limitata (1 istanza)                 Orizzontale (competing consumers)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429000"/>
            <a:ext cx="11176000" cy="381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Resilienza         Bassa (se Hub cade)                  Alta (Service Bus = buffer)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0"/>
            <a:ext cx="11176000" cy="381000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Osservabilità      Aspire Dashboard                     Aspire + Azure Monitor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191000"/>
            <a:ext cx="11176000" cy="381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rgbClr val="1A1A1A"/>
                </a:solidFill>
              </a:rPr>
              <a:t>  Caso d'uso ideale  Dashboard, notifiche                 E-commerce, sistemi critici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826000"/>
            <a:ext cx="11176000" cy="635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rgbClr val="4A4A4A"/>
                </a:solidFill>
              </a:rPr>
              <a:t>Non esiste la soluzione "giusta": dipende dalla complessita' del dominio e dai requisiti di resilienza.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2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3B73"/>
                </a:solidFill>
              </a:rPr>
              <a:t>Risorse e link utili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143000"/>
            <a:ext cx="11176000" cy="5080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78D4"/>
                </a:solidFill>
              </a:rPr>
              <a:t>Documentazione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.NET Aspire — learn.microsoft.com/dotnet/aspire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SignalR — learn.microsoft.com/azure/azure-signalr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Service Bus — learn.microsoft.com/azure/service-bus-messaging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App Service — learn.microsoft.com/azure/app-service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Azure Load Testing — learn.microsoft.com/azure/load-testing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Framework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Wolverine — wolverine.netlify.app</a:t>
            </a:r>
            <a:endParaRPr lang="en-US"/>
          </a:p>
          <a:p>
            <a:pPr algn="ctr"/>
            <a:r>
              <a:rPr lang="en-US" sz="1200" b="0" dirty="0">
                <a:solidFill>
                  <a:srgbClr val="1A1A1A"/>
                </a:solidFill>
              </a:rPr>
              <a:t>  •  Blazor — learn.microsoft.com/aspnet/core/blazor</a:t>
            </a:r>
            <a:endParaRPr lang="en-US"/>
          </a:p>
          <a:p>
            <a:pPr algn="ctr"/>
            <a:r>
              <a:rPr lang="en-US" sz="10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800" b="1" dirty="0">
                <a:solidFill>
                  <a:srgbClr val="0078D4"/>
                </a:solidFill>
              </a:rPr>
              <a:t>Codice sorgente</a:t>
            </a:r>
            <a:endParaRPr lang="en-US"/>
          </a:p>
          <a:p>
            <a:pPr algn="ctr"/>
            <a:r>
              <a:rPr lang="en-US" sz="400" b="0" dirty="0">
                <a:solidFill>
                  <a:srgbClr val="1A1A1A"/>
                </a:solidFill>
              </a:rPr>
              <a:t/>
            </a:r>
            <a:endParaRPr lang="en-US"/>
          </a:p>
          <a:p>
            <a:pPr algn="ctr"/>
            <a:r>
              <a:rPr lang="en-US" sz="1200" b="0" dirty="0">
                <a:solidFill>
                  <a:srgbClr val="4A4A4A"/>
                </a:solidFill>
              </a:rPr>
              <a:t>  •  github.com/&lt;your-repo&gt;/GlobalAzure2026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90500" y="6477000"/>
            <a:ext cx="6350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Global Azure 2026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11430000" y="6477000"/>
            <a:ext cx="635000" cy="254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dirty="0">
                <a:solidFill>
                  <a:srgbClr val="4A4A4A"/>
                </a:solidFill>
              </a:rPr>
              <a:t>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3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3B73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b="0" dirty="0">
                <a:solidFill>
                  <a:srgbClr val="0078D4"/>
                </a:solidFill>
              </a:rPr>
              <a:t> 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1905000"/>
            <a:ext cx="11176000" cy="762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Grazie!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3048000"/>
            <a:ext cx="11176000" cy="508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dirty="0">
                <a:solidFill>
                  <a:srgbClr val="00B294"/>
                </a:solidFill>
              </a:rPr>
              <a:t>Domande?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508000" y="4191000"/>
            <a:ext cx="11176000" cy="635000"/>
          </a:xfrm>
          <a:prstGeom prst="rect">
            <a:avLst/>
          </a:prstGeom>
          <a:solidFill>
            <a:srgbClr val="003B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dirty="0">
                <a:solidFill>
                  <a:srgbClr val="AAAAAA"/>
                </a:solidFill>
              </a:rPr>
              <a:t>Global Azure 2026</a:t>
            </a:r>
            <a:endParaRPr lang="en-US"/>
          </a:p>
          <a:p>
            <a:pPr algn="ctr"/>
            <a:r>
              <a:rPr lang="en-US" sz="1200" b="0" dirty="0">
                <a:solidFill>
                  <a:srgbClr val="888888"/>
                </a:solidFill>
              </a:rPr>
              <a:t>I mille modi di creare un'applicazione reattiva su Azure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2026-04-14T20:05:33.4071465Z</dcterms:modified>
</coreProperties>
</file>